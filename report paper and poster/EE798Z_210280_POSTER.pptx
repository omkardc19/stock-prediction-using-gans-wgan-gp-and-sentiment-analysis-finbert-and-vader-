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</p:sldIdLst>
  <p:sldSz cx="43891200" cy="32918400"/>
  <p:notesSz cx="7004050" cy="9290050"/>
  <p:defaultTextStyle>
    <a:defPPr lvl="0">
      <a:defRPr lang="en-US"/>
    </a:defPPr>
    <a:lvl1pPr marL="0" lvl="0" algn="l" defTabSz="3291279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1pPr>
    <a:lvl2pPr marL="1645640" lvl="1" algn="l" defTabSz="3291279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2pPr>
    <a:lvl3pPr marL="3291279" lvl="2" algn="l" defTabSz="3291279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3pPr>
    <a:lvl4pPr marL="4936919" lvl="3" algn="l" defTabSz="3291279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4pPr>
    <a:lvl5pPr marL="6582559" lvl="4" algn="l" defTabSz="3291279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5pPr>
    <a:lvl6pPr marL="8228198" lvl="5" algn="l" defTabSz="3291279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6pPr>
    <a:lvl7pPr marL="9873837" lvl="6" algn="l" defTabSz="3291279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7pPr>
    <a:lvl8pPr marL="11519478" lvl="7" algn="l" defTabSz="3291279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8pPr>
    <a:lvl9pPr marL="13165118" lvl="8" algn="l" defTabSz="3291279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" d="100"/>
          <a:sy n="16" d="100"/>
        </p:scale>
        <p:origin x="1637" y="139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43159680" y="0"/>
            <a:ext cx="731520" cy="32918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0"/>
            <a:ext cx="731520" cy="32918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0" y="0"/>
            <a:ext cx="43891200" cy="4114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0" y="28803600"/>
            <a:ext cx="43891200" cy="411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endParaRPr lang="en-US" dirty="0"/>
          </a:p>
        </p:txBody>
      </p:sp>
      <p:sp>
        <p:nvSpPr>
          <p:cNvPr id="11" name="Instructions"/>
          <p:cNvSpPr/>
          <p:nvPr userDrawn="1"/>
        </p:nvSpPr>
        <p:spPr>
          <a:xfrm>
            <a:off x="-10515600" y="0"/>
            <a:ext cx="9601200" cy="3291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1421" tIns="171421" rIns="171421" bIns="171421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72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Print Size:</a:t>
            </a:r>
            <a:endParaRPr sz="72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49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This poster template is 36” high by 48” wide. It can be used to print a Tri-Fold poster with 12” wings.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72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Placeholders</a:t>
            </a:r>
            <a:r>
              <a:rPr sz="72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sz="49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The </a:t>
            </a:r>
            <a:r>
              <a:rPr lang="en-US" sz="49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various elements included</a:t>
            </a:r>
            <a:r>
              <a:rPr sz="49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 this </a:t>
            </a:r>
            <a:r>
              <a:rPr lang="en-US" sz="49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are ones</a:t>
            </a:r>
            <a:r>
              <a:rPr lang="en-US" sz="49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we often see in medical, research, and scientific posters.</a:t>
            </a:r>
            <a:r>
              <a:rPr sz="49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</a:t>
            </a:r>
            <a:r>
              <a:rPr lang="en-US" sz="49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Feel</a:t>
            </a:r>
            <a:r>
              <a:rPr lang="en-US" sz="49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free to edit, move,  add, and delete items, or change the layout to suit your needs. Always check with your conference organizer for specific requirements.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72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Image</a:t>
            </a:r>
            <a:r>
              <a:rPr lang="en-US" sz="72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Quality</a:t>
            </a:r>
            <a:r>
              <a:rPr lang="en-US" sz="72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49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You can place digital photos or logo art in your poster file by selecting the </a:t>
            </a:r>
            <a:r>
              <a:rPr lang="en-US" sz="49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Insert, Picture</a:t>
            </a:r>
            <a:r>
              <a:rPr lang="en-US" sz="49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command, or by using standard copy &amp; paste. For best results, all graphic elements should be at least </a:t>
            </a:r>
            <a:r>
              <a:rPr lang="en-US" sz="49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150-200 pixels per inch in their final printed size</a:t>
            </a:r>
            <a:r>
              <a:rPr lang="en-US" sz="49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. For instance, a 1600 x 1200 pixel</a:t>
            </a:r>
            <a:r>
              <a:rPr lang="en-US" sz="49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photo will usually look fine up to </a:t>
            </a:r>
            <a:r>
              <a:rPr lang="en-US" sz="49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8“-10” wide on your printed poster.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49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To preview the print quality of images, select a magnification of 100% when previewing your poster. This will give you a good idea of what it will look like in print. If you are laying out a large poster and using half-scale dimensions, be sure to preview your graphics at 200% to see them at their final printed size.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49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Please note that graphics from websites (such as the logo on your hospital's or university's home page) will only be 72dpi and not suitable for printing.</a:t>
            </a:r>
          </a:p>
          <a:p>
            <a:pPr lvl="0" algn="ctr">
              <a:spcBef>
                <a:spcPts val="0"/>
              </a:spcBef>
              <a:spcAft>
                <a:spcPts val="1800"/>
              </a:spcAft>
            </a:pPr>
            <a:br>
              <a:rPr lang="en-US" sz="3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</a:br>
            <a:r>
              <a:rPr lang="en-US" sz="3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[This sidebar area does not print.]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44805600" y="0"/>
            <a:ext cx="9601200" cy="32918400"/>
            <a:chOff x="33832800" y="0"/>
            <a:chExt cx="12801600" cy="43891200"/>
          </a:xfrm>
        </p:grpSpPr>
        <p:sp>
          <p:nvSpPr>
            <p:cNvPr id="13" name="Instructions"/>
            <p:cNvSpPr/>
            <p:nvPr userDrawn="1"/>
          </p:nvSpPr>
          <p:spPr>
            <a:xfrm>
              <a:off x="33832800" y="0"/>
              <a:ext cx="12801600" cy="43891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8600" tIns="228600" rIns="228600" bIns="228600" rtlCol="0" anchor="t"/>
            <a:lstStyle>
              <a:defPPr>
                <a:defRPr lang="en-US"/>
              </a:defPPr>
              <a:lvl1pPr marL="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4343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8686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53029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37372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21715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106058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90401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74744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1800"/>
                </a:spcAft>
              </a:pPr>
              <a:r>
                <a:rPr lang="en-US" sz="72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Change</a:t>
              </a:r>
              <a:r>
                <a:rPr lang="en-US" sz="72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Color Theme</a:t>
              </a:r>
              <a:r>
                <a:rPr lang="en-US" sz="72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:</a:t>
              </a:r>
              <a:endParaRPr sz="7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800"/>
                </a:spcAft>
              </a:pPr>
              <a:r>
                <a:rPr lang="en-US" sz="49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This template is designed to use the built-in color themes in</a:t>
              </a:r>
              <a:r>
                <a:rPr lang="en-US" sz="49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the newer versions of PowerPoint.</a:t>
              </a:r>
            </a:p>
            <a:p>
              <a:pPr lvl="0">
                <a:spcBef>
                  <a:spcPts val="0"/>
                </a:spcBef>
                <a:spcAft>
                  <a:spcPts val="1800"/>
                </a:spcAft>
              </a:pPr>
              <a:r>
                <a:rPr lang="en-US" sz="49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To change the color theme, select the </a:t>
              </a:r>
              <a:r>
                <a:rPr lang="en-US" sz="49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Design</a:t>
              </a:r>
              <a:r>
                <a:rPr lang="en-US" sz="49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tab, then select the </a:t>
              </a:r>
              <a:r>
                <a:rPr lang="en-US" sz="49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Colors</a:t>
              </a:r>
              <a:r>
                <a:rPr lang="en-US" sz="49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drop-down list.</a:t>
              </a:r>
            </a:p>
            <a:p>
              <a:pPr lvl="0">
                <a:spcBef>
                  <a:spcPts val="0"/>
                </a:spcBef>
                <a:spcAft>
                  <a:spcPts val="1800"/>
                </a:spcAft>
              </a:pPr>
              <a:endParaRPr lang="en-US" sz="49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800"/>
                </a:spcAft>
              </a:pPr>
              <a:endParaRPr lang="en-US" sz="49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800"/>
                </a:spcAft>
              </a:pPr>
              <a:endParaRPr lang="en-US" sz="49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800"/>
                </a:spcAft>
              </a:pPr>
              <a:endParaRPr lang="en-US" sz="49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800"/>
                </a:spcAft>
              </a:pPr>
              <a:endParaRPr lang="en-US" sz="49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800"/>
                </a:spcAft>
              </a:pPr>
              <a:endParaRPr lang="en-US" sz="49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800"/>
                </a:spcAft>
              </a:pPr>
              <a:endParaRPr lang="en-US" sz="49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800"/>
                </a:spcAft>
              </a:pPr>
              <a:endParaRPr lang="en-US" sz="49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800"/>
                </a:spcAft>
              </a:pPr>
              <a:endParaRPr lang="en-US" sz="49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800"/>
                </a:spcAft>
              </a:pPr>
              <a:r>
                <a:rPr lang="en-US" sz="49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The default color theme for this template is “Office”, so you can always return to that after trying some of the alternatives.</a:t>
              </a:r>
            </a:p>
            <a:p>
              <a:pPr lvl="0">
                <a:spcBef>
                  <a:spcPts val="0"/>
                </a:spcBef>
                <a:spcAft>
                  <a:spcPts val="1800"/>
                </a:spcAft>
              </a:pPr>
              <a:r>
                <a:rPr lang="en-US" sz="72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Printing Your Poster:</a:t>
              </a:r>
            </a:p>
            <a:p>
              <a:pPr lvl="0">
                <a:spcBef>
                  <a:spcPts val="0"/>
                </a:spcBef>
                <a:spcAft>
                  <a:spcPts val="1800"/>
                </a:spcAft>
              </a:pPr>
              <a:r>
                <a:rPr lang="en-US" sz="49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Once your poster file is ready, visit</a:t>
              </a:r>
              <a:r>
                <a:rPr lang="en-US" sz="49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</a:t>
              </a:r>
              <a:r>
                <a:rPr lang="en-US" sz="49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www.genigraphics.com</a:t>
              </a:r>
              <a:r>
                <a:rPr lang="en-US" sz="49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to order a high-quality, affordable poster print. Every order receives a free design review and we can deliver as fast as next business day within the US and Canada. </a:t>
              </a:r>
            </a:p>
            <a:p>
              <a:pPr lvl="0">
                <a:spcBef>
                  <a:spcPts val="0"/>
                </a:spcBef>
                <a:spcAft>
                  <a:spcPts val="1800"/>
                </a:spcAft>
              </a:pPr>
              <a:r>
                <a:rPr lang="en-US" sz="49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Genigraphics® has been producing output from PowerPoint® longer than anyone in the industry; dating back to when we helped Microsoft® design the PowerPoint® software. </a:t>
              </a:r>
            </a:p>
            <a:p>
              <a:pPr lvl="0">
                <a:spcBef>
                  <a:spcPts val="0"/>
                </a:spcBef>
                <a:spcAft>
                  <a:spcPts val="0"/>
                </a:spcAft>
              </a:pPr>
              <a:endParaRPr lang="en-US" sz="49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49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US and Canada:  1-800-790-4001</a:t>
              </a:r>
              <a:br>
                <a:rPr lang="en-US" sz="49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49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Email: info@genigraphics.com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br>
                <a:rPr lang="en-US" sz="3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3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[This sidebar area does not print.]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1342" y="9260274"/>
              <a:ext cx="11904515" cy="10246926"/>
            </a:xfrm>
            <a:prstGeom prst="rect">
              <a:avLst/>
            </a:prstGeom>
          </p:spPr>
        </p:pic>
      </p:grpSp>
      <p:grpSp>
        <p:nvGrpSpPr>
          <p:cNvPr id="8" name="Group 7"/>
          <p:cNvGrpSpPr/>
          <p:nvPr userDrawn="1"/>
        </p:nvGrpSpPr>
        <p:grpSpPr>
          <a:xfrm>
            <a:off x="7033287" y="-1257300"/>
            <a:ext cx="29923713" cy="35653980"/>
            <a:chOff x="7033287" y="-1257300"/>
            <a:chExt cx="29923713" cy="35653980"/>
          </a:xfrm>
        </p:grpSpPr>
        <p:sp>
          <p:nvSpPr>
            <p:cNvPr id="2" name="TextBox 1"/>
            <p:cNvSpPr txBox="1"/>
            <p:nvPr userDrawn="1"/>
          </p:nvSpPr>
          <p:spPr>
            <a:xfrm>
              <a:off x="7033287" y="-1247269"/>
              <a:ext cx="3634713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F7F7F"/>
                  </a:solidFill>
                </a:rPr>
                <a:t>Folds here</a:t>
              </a:r>
            </a:p>
          </p:txBody>
        </p:sp>
        <p:cxnSp>
          <p:nvCxnSpPr>
            <p:cNvPr id="4" name="Straight Arrow Connector 3"/>
            <p:cNvCxnSpPr/>
            <p:nvPr userDrawn="1"/>
          </p:nvCxnSpPr>
          <p:spPr>
            <a:xfrm>
              <a:off x="10972800" y="-1257300"/>
              <a:ext cx="0" cy="1097280"/>
            </a:xfrm>
            <a:prstGeom prst="straightConnector1">
              <a:avLst/>
            </a:prstGeom>
            <a:ln w="63500">
              <a:solidFill>
                <a:srgbClr val="7F7F7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 userDrawn="1"/>
          </p:nvSpPr>
          <p:spPr>
            <a:xfrm>
              <a:off x="33322287" y="-1247269"/>
              <a:ext cx="3634713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F7F7F"/>
                  </a:solidFill>
                </a:rPr>
                <a:t>Folds here</a:t>
              </a:r>
            </a:p>
          </p:txBody>
        </p:sp>
        <p:cxnSp>
          <p:nvCxnSpPr>
            <p:cNvPr id="20" name="Straight Arrow Connector 19"/>
            <p:cNvCxnSpPr/>
            <p:nvPr userDrawn="1"/>
          </p:nvCxnSpPr>
          <p:spPr>
            <a:xfrm>
              <a:off x="32918400" y="-1257300"/>
              <a:ext cx="0" cy="1097280"/>
            </a:xfrm>
            <a:prstGeom prst="straightConnector1">
              <a:avLst/>
            </a:prstGeom>
            <a:ln w="63500">
              <a:solidFill>
                <a:srgbClr val="7F7F7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 userDrawn="1"/>
          </p:nvSpPr>
          <p:spPr>
            <a:xfrm>
              <a:off x="7033287" y="33309431"/>
              <a:ext cx="3634713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F7F7F"/>
                  </a:solidFill>
                </a:rPr>
                <a:t>Folds here</a:t>
              </a:r>
            </a:p>
          </p:txBody>
        </p:sp>
        <p:cxnSp>
          <p:nvCxnSpPr>
            <p:cNvPr id="22" name="Straight Arrow Connector 21"/>
            <p:cNvCxnSpPr/>
            <p:nvPr userDrawn="1"/>
          </p:nvCxnSpPr>
          <p:spPr>
            <a:xfrm>
              <a:off x="10972800" y="33299400"/>
              <a:ext cx="0" cy="1097280"/>
            </a:xfrm>
            <a:prstGeom prst="straightConnector1">
              <a:avLst/>
            </a:prstGeom>
            <a:ln w="63500">
              <a:solidFill>
                <a:srgbClr val="7F7F7F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 userDrawn="1"/>
          </p:nvSpPr>
          <p:spPr>
            <a:xfrm>
              <a:off x="33322287" y="33309431"/>
              <a:ext cx="3634713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F7F7F"/>
                  </a:solidFill>
                </a:rPr>
                <a:t>Folds here</a:t>
              </a:r>
            </a:p>
          </p:txBody>
        </p:sp>
        <p:cxnSp>
          <p:nvCxnSpPr>
            <p:cNvPr id="24" name="Straight Arrow Connector 23"/>
            <p:cNvCxnSpPr/>
            <p:nvPr userDrawn="1"/>
          </p:nvCxnSpPr>
          <p:spPr>
            <a:xfrm>
              <a:off x="32918400" y="33299400"/>
              <a:ext cx="0" cy="1097280"/>
            </a:xfrm>
            <a:prstGeom prst="straightConnector1">
              <a:avLst/>
            </a:prstGeom>
            <a:ln w="63500">
              <a:solidFill>
                <a:srgbClr val="7F7F7F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00" y="32613600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11/26/2024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</p:spPr>
        <p:txBody>
          <a:bodyPr vert="horz" lIns="329128" tIns="164564" rIns="329128" bIns="164564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680963"/>
            <a:ext cx="39502080" cy="21724623"/>
          </a:xfrm>
          <a:prstGeom prst="rect">
            <a:avLst/>
          </a:prstGeom>
        </p:spPr>
        <p:txBody>
          <a:bodyPr vert="horz" lIns="329128" tIns="164564" rIns="329128" bIns="164564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30510483"/>
            <a:ext cx="10241280" cy="1752600"/>
          </a:xfrm>
          <a:prstGeom prst="rect">
            <a:avLst/>
          </a:prstGeom>
        </p:spPr>
        <p:txBody>
          <a:bodyPr vert="horz" lIns="329128" tIns="164564" rIns="329128" bIns="164564" rtlCol="0" anchor="ctr"/>
          <a:lstStyle>
            <a:lvl1pPr algn="l">
              <a:defRPr sz="4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11/26/2024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30510483"/>
            <a:ext cx="13898880" cy="1752600"/>
          </a:xfrm>
          <a:prstGeom prst="rect">
            <a:avLst/>
          </a:prstGeom>
        </p:spPr>
        <p:txBody>
          <a:bodyPr vert="horz" lIns="329128" tIns="164564" rIns="329128" bIns="164564" rtlCol="0" anchor="ctr"/>
          <a:lstStyle>
            <a:lvl1pPr algn="ctr">
              <a:defRPr sz="4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30510483"/>
            <a:ext cx="10241280" cy="1752600"/>
          </a:xfrm>
          <a:prstGeom prst="rect">
            <a:avLst/>
          </a:prstGeom>
        </p:spPr>
        <p:txBody>
          <a:bodyPr vert="horz" lIns="329128" tIns="164564" rIns="329128" bIns="164564" rtlCol="0" anchor="ctr"/>
          <a:lstStyle>
            <a:lvl1pPr algn="r">
              <a:defRPr sz="4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3291279" rtl="0" eaLnBrk="1" latinLnBrk="0" hangingPunct="1"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42" indent="-342842" algn="l" defTabSz="3291279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683" indent="-342842" algn="l" defTabSz="3291279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525" indent="-342842" algn="l" defTabSz="3291279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66" indent="-342842" algn="l" defTabSz="3291279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209" indent="-342842" algn="l" defTabSz="3291279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9051018" indent="-822820" algn="l" defTabSz="3291279" rtl="0" eaLnBrk="1" latinLnBrk="0" hangingPunct="1">
        <a:spcBef>
          <a:spcPct val="20000"/>
        </a:spcBef>
        <a:buFont typeface="Arial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96658" indent="-822820" algn="l" defTabSz="3291279" rtl="0" eaLnBrk="1" latinLnBrk="0" hangingPunct="1">
        <a:spcBef>
          <a:spcPct val="20000"/>
        </a:spcBef>
        <a:buFont typeface="Arial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342297" indent="-822820" algn="l" defTabSz="3291279" rtl="0" eaLnBrk="1" latinLnBrk="0" hangingPunct="1">
        <a:spcBef>
          <a:spcPct val="20000"/>
        </a:spcBef>
        <a:buFont typeface="Arial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3987936" indent="-822820" algn="l" defTabSz="3291279" rtl="0" eaLnBrk="1" latinLnBrk="0" hangingPunct="1">
        <a:spcBef>
          <a:spcPct val="20000"/>
        </a:spcBef>
        <a:buFont typeface="Arial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645640" algn="l" defTabSz="3291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291279" algn="l" defTabSz="3291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4936919" algn="l" defTabSz="3291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4pPr>
      <a:lvl5pPr marL="6582559" algn="l" defTabSz="3291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5pPr>
      <a:lvl6pPr marL="8228198" algn="l" defTabSz="3291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6pPr>
      <a:lvl7pPr marL="9873837" algn="l" defTabSz="3291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7pPr>
      <a:lvl8pPr marL="11519478" algn="l" defTabSz="3291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8pPr>
      <a:lvl9pPr marL="13165118" algn="l" defTabSz="3291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hyperlink" Target="mailto:chavan21@iitk.ac.in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10972800" y="0"/>
            <a:ext cx="21945600" cy="2651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7137" tIns="91440" rIns="137137" bIns="91440" anchor="ctr" anchorCtr="0">
            <a:norm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7200" b="1" dirty="0">
                <a:solidFill>
                  <a:schemeClr val="bg1"/>
                </a:solidFill>
                <a:latin typeface="+mj-lt"/>
              </a:rPr>
              <a:t>Stock Price Prediction Using Generative Adversarial Networks and Sentiment Analysis ( </a:t>
            </a:r>
            <a:r>
              <a:rPr lang="en-US" sz="7200" b="1" dirty="0" err="1">
                <a:solidFill>
                  <a:schemeClr val="bg1"/>
                </a:solidFill>
                <a:latin typeface="+mj-lt"/>
              </a:rPr>
              <a:t>FinBERT</a:t>
            </a:r>
            <a:r>
              <a:rPr lang="en-US" sz="7200" b="1" dirty="0">
                <a:solidFill>
                  <a:schemeClr val="bg1"/>
                </a:solidFill>
                <a:latin typeface="+mj-lt"/>
              </a:rPr>
              <a:t> and VADER )</a:t>
            </a: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10972800" y="2377440"/>
            <a:ext cx="219456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7137" tIns="91440" rIns="137137" bIns="91440" anchor="ctr" anchorCtr="0">
            <a:norm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sv-SE" sz="44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j-lt"/>
              </a:rPr>
              <a:t>Omkar Chavan, Roll No. 210280</a:t>
            </a:r>
          </a:p>
          <a:p>
            <a:pPr algn="ctr" eaLnBrk="1" hangingPunct="1"/>
            <a:r>
              <a:rPr lang="en-US" sz="44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j-lt"/>
              </a:rPr>
              <a:t>Indian Institute of Technology, Kanpur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39" y="30038039"/>
            <a:ext cx="9144000" cy="2223674"/>
          </a:xfrm>
          <a:prstGeom prst="rect">
            <a:avLst/>
          </a:prstGeom>
          <a:noFill/>
        </p:spPr>
        <p:txBody>
          <a:bodyPr wrap="square" lIns="91440" tIns="91440" rIns="91440" bIns="91440" rtlCol="0">
            <a:normAutofit lnSpcReduction="10000"/>
          </a:bodyPr>
          <a:lstStyle/>
          <a:p>
            <a:pPr algn="ctr" eaLnBrk="1" hangingPunct="1"/>
            <a:r>
              <a:rPr lang="sv-SE" sz="2800" b="1" dirty="0">
                <a:latin typeface="+mj-lt"/>
              </a:rPr>
              <a:t>Omkar Chavan, </a:t>
            </a:r>
          </a:p>
          <a:p>
            <a:pPr algn="ctr" eaLnBrk="1" hangingPunct="1"/>
            <a:r>
              <a:rPr lang="sv-SE" sz="2800" b="1" dirty="0">
                <a:latin typeface="+mj-lt"/>
                <a:hlinkClick r:id="rId2"/>
              </a:rPr>
              <a:t>chavan21@iitk.ac.in</a:t>
            </a:r>
            <a:endParaRPr lang="sv-SE" sz="2800" b="1" dirty="0">
              <a:latin typeface="+mj-lt"/>
            </a:endParaRPr>
          </a:p>
          <a:p>
            <a:pPr algn="ctr" eaLnBrk="1" hangingPunct="1"/>
            <a:r>
              <a:rPr lang="sv-SE" sz="2800" b="1" dirty="0">
                <a:latin typeface="+mj-lt"/>
              </a:rPr>
              <a:t>+91 8080506982</a:t>
            </a:r>
          </a:p>
          <a:p>
            <a:pPr algn="ctr" eaLnBrk="1" hangingPunct="1"/>
            <a:r>
              <a:rPr lang="sv-SE" sz="2800" b="1" dirty="0">
                <a:latin typeface="+mj-lt"/>
              </a:rPr>
              <a:t>Github: </a:t>
            </a: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https://github.com/omkardc19</a:t>
            </a:r>
            <a:endParaRPr lang="sv-SE" sz="2800" b="1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  <a:p>
            <a:pPr algn="ctr" eaLnBrk="1" hangingPunct="1"/>
            <a:r>
              <a:rPr lang="en-US" sz="2800" b="1" dirty="0">
                <a:latin typeface="+mj-lt"/>
              </a:rPr>
              <a:t>Indian Institute of Technology, Kanpur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29146502"/>
            <a:ext cx="9144000" cy="746346"/>
          </a:xfrm>
          <a:prstGeom prst="rect">
            <a:avLst/>
          </a:prstGeom>
          <a:noFill/>
        </p:spPr>
        <p:txBody>
          <a:bodyPr wrap="none" lIns="68568" tIns="34284" rIns="68568" bIns="34284" rtlCol="0">
            <a:noAutofit/>
          </a:bodyPr>
          <a:lstStyle/>
          <a:p>
            <a:pPr algn="ctr"/>
            <a:r>
              <a:rPr lang="en-US" sz="4400" b="1" dirty="0"/>
              <a:t>Contact Information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0" y="29892848"/>
            <a:ext cx="18288000" cy="2339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numCol="1" spcCol="342842" rtlCol="0">
            <a:noAutofit/>
          </a:bodyPr>
          <a:lstStyle/>
          <a:p>
            <a:pPr marL="342842" indent="-342842">
              <a:buFont typeface="+mj-lt"/>
              <a:buAutoNum type="arabicPeriod"/>
            </a:pPr>
            <a:r>
              <a:rPr lang="en-US" sz="2800" b="1" dirty="0"/>
              <a:t> </a:t>
            </a:r>
            <a:r>
              <a:rPr lang="en-IN" sz="2800" b="1" dirty="0" err="1"/>
              <a:t>Arjovsky</a:t>
            </a:r>
            <a:r>
              <a:rPr lang="en-IN" sz="2800" b="1" dirty="0"/>
              <a:t>, M., </a:t>
            </a:r>
            <a:r>
              <a:rPr lang="en-IN" sz="2800" b="1" dirty="0" err="1"/>
              <a:t>Chintala</a:t>
            </a:r>
            <a:r>
              <a:rPr lang="en-IN" sz="2800" b="1" dirty="0"/>
              <a:t>, S., and </a:t>
            </a:r>
            <a:r>
              <a:rPr lang="en-IN" sz="2800" b="1" dirty="0" err="1"/>
              <a:t>Bottou</a:t>
            </a:r>
            <a:r>
              <a:rPr lang="en-IN" sz="2800" b="1" dirty="0"/>
              <a:t>, L., (2017), Wasserstein GAN, </a:t>
            </a:r>
            <a:r>
              <a:rPr lang="en-IN" sz="2800" b="1" dirty="0" err="1"/>
              <a:t>arXiv</a:t>
            </a:r>
            <a:r>
              <a:rPr lang="en-IN" sz="2800" b="1" dirty="0"/>
              <a:t> preprint, arXiv:1701.07875.</a:t>
            </a:r>
            <a:r>
              <a:rPr lang="en-US" sz="2800" b="1" dirty="0"/>
              <a:t> </a:t>
            </a:r>
          </a:p>
          <a:p>
            <a:pPr marL="342842" indent="-342842">
              <a:buFont typeface="+mj-lt"/>
              <a:buAutoNum type="arabicPeriod"/>
            </a:pPr>
            <a:r>
              <a:rPr lang="en-IN" sz="2800" b="1" dirty="0"/>
              <a:t>Goodfellow, I. J., </a:t>
            </a:r>
            <a:r>
              <a:rPr lang="en-IN" sz="2800" b="1" dirty="0" err="1"/>
              <a:t>Pouget</a:t>
            </a:r>
            <a:r>
              <a:rPr lang="en-IN" sz="2800" b="1" dirty="0"/>
              <a:t>-Abadie, J., Mirza, M., Xu, B., Warde-Farley, D., </a:t>
            </a:r>
            <a:r>
              <a:rPr lang="en-IN" sz="2800" b="1" dirty="0" err="1"/>
              <a:t>Ozair</a:t>
            </a:r>
            <a:r>
              <a:rPr lang="en-IN" sz="2800" b="1" dirty="0"/>
              <a:t>, S., Courville, A., &amp; Bengio, Y. (2014). Generative Adversarial Nets. </a:t>
            </a:r>
            <a:r>
              <a:rPr lang="en-IN" sz="2800" b="1" i="1" dirty="0" err="1"/>
              <a:t>arXiv</a:t>
            </a:r>
            <a:r>
              <a:rPr lang="en-IN" sz="2800" b="1" i="1" dirty="0"/>
              <a:t> preprint</a:t>
            </a:r>
            <a:r>
              <a:rPr lang="en-IN" sz="2800" b="1" dirty="0"/>
              <a:t>, arXiv:1406.2661.</a:t>
            </a:r>
            <a:r>
              <a:rPr lang="en-US" sz="2800" b="1" dirty="0"/>
              <a:t> </a:t>
            </a:r>
          </a:p>
          <a:p>
            <a:pPr marL="342842" indent="-342842">
              <a:buFont typeface="+mj-lt"/>
              <a:buAutoNum type="arabicPeriod"/>
            </a:pPr>
            <a:r>
              <a:rPr lang="en-US" sz="2800" b="1" dirty="0"/>
              <a:t> Halder, S. (2022). </a:t>
            </a:r>
            <a:r>
              <a:rPr lang="en-US" sz="2800" b="1" dirty="0" err="1"/>
              <a:t>FinBERT</a:t>
            </a:r>
            <a:r>
              <a:rPr lang="en-US" sz="2800" b="1" dirty="0"/>
              <a:t>-LSTM: Deep Learning-Based Stock Price Prediction Using News Sentiment Analysis. </a:t>
            </a:r>
            <a:r>
              <a:rPr lang="en-US" sz="2800" b="1" i="1" dirty="0" err="1"/>
              <a:t>arXiv</a:t>
            </a:r>
            <a:r>
              <a:rPr lang="en-US" sz="2800" b="1" i="1" dirty="0"/>
              <a:t> preprint</a:t>
            </a:r>
            <a:r>
              <a:rPr lang="en-US" sz="2800" b="1" dirty="0"/>
              <a:t>, arXiv:2211.07392.</a:t>
            </a:r>
          </a:p>
          <a:p>
            <a:pPr marL="342842" indent="-342842">
              <a:buFont typeface="+mj-lt"/>
              <a:buAutoNum type="arabicPeriod"/>
            </a:pPr>
            <a:r>
              <a:rPr lang="en-US" sz="2800" b="1" dirty="0"/>
              <a:t> Jain, J. K., &amp; Agrawal, R. (2023). FB-GAN: A Novel Neural Sentiment-Enhanced Model for Stock Price Prediction.</a:t>
            </a:r>
          </a:p>
          <a:p>
            <a:endParaRPr lang="en-US" sz="28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12801600" y="29146502"/>
            <a:ext cx="18288000" cy="685800"/>
          </a:xfrm>
          <a:prstGeom prst="rect">
            <a:avLst/>
          </a:prstGeom>
          <a:noFill/>
          <a:ln>
            <a:noFill/>
          </a:ln>
        </p:spPr>
        <p:txBody>
          <a:bodyPr wrap="none" lIns="68568" tIns="34284" rIns="68568" bIns="34284" rtlCol="0" anchor="ctr" anchorCtr="0">
            <a:noAutofit/>
          </a:bodyPr>
          <a:lstStyle/>
          <a:p>
            <a:pPr algn="ctr"/>
            <a:r>
              <a:rPr lang="en-US" sz="4400" b="1" dirty="0"/>
              <a:t>References</a:t>
            </a:r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1280160" y="5272099"/>
            <a:ext cx="9144000" cy="520137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200" dirty="0">
                <a:latin typeface="+mn-lt"/>
              </a:rPr>
              <a:t>Stock price prediction is challenging due to market volatility. This study integrates </a:t>
            </a:r>
            <a:r>
              <a:rPr lang="en-US" sz="3200" b="1" dirty="0">
                <a:latin typeface="+mn-lt"/>
              </a:rPr>
              <a:t>VADER</a:t>
            </a:r>
            <a:r>
              <a:rPr lang="en-US" sz="3200" dirty="0">
                <a:latin typeface="+mn-lt"/>
              </a:rPr>
              <a:t> and </a:t>
            </a:r>
            <a:r>
              <a:rPr lang="en-US" sz="3200" b="1" dirty="0" err="1">
                <a:latin typeface="+mn-lt"/>
              </a:rPr>
              <a:t>FinBERT</a:t>
            </a:r>
            <a:r>
              <a:rPr lang="en-US" sz="3200" dirty="0">
                <a:latin typeface="+mn-lt"/>
              </a:rPr>
              <a:t> </a:t>
            </a:r>
            <a:r>
              <a:rPr lang="en-US" sz="3200" b="1" dirty="0">
                <a:latin typeface="+mn-lt"/>
              </a:rPr>
              <a:t>sentiment analysis</a:t>
            </a:r>
            <a:r>
              <a:rPr lang="en-US" sz="3200" dirty="0">
                <a:latin typeface="+mn-lt"/>
              </a:rPr>
              <a:t> with models like </a:t>
            </a:r>
            <a:r>
              <a:rPr lang="en-US" sz="3200" b="1" dirty="0">
                <a:latin typeface="+mn-lt"/>
              </a:rPr>
              <a:t>LSTM, GAN</a:t>
            </a:r>
            <a:r>
              <a:rPr lang="en-US" sz="3200" dirty="0">
                <a:latin typeface="+mn-lt"/>
              </a:rPr>
              <a:t>, and </a:t>
            </a:r>
            <a:r>
              <a:rPr lang="en-US" sz="3200" b="1" dirty="0">
                <a:latin typeface="+mn-lt"/>
              </a:rPr>
              <a:t>WGAN-GP</a:t>
            </a:r>
            <a:r>
              <a:rPr lang="en-US" sz="3200" dirty="0">
                <a:latin typeface="+mn-lt"/>
              </a:rPr>
              <a:t> to improve forecasting. Using Amazon stock data and Twitter sentiment, </a:t>
            </a:r>
            <a:r>
              <a:rPr lang="en-US" sz="3200" dirty="0" err="1">
                <a:latin typeface="+mn-lt"/>
              </a:rPr>
              <a:t>FinBERT</a:t>
            </a:r>
            <a:r>
              <a:rPr lang="en-US" sz="3200" dirty="0">
                <a:latin typeface="+mn-lt"/>
              </a:rPr>
              <a:t> consistently outperformed VADER, with LSTM-</a:t>
            </a:r>
            <a:r>
              <a:rPr lang="en-US" sz="3200" dirty="0" err="1">
                <a:latin typeface="+mn-lt"/>
              </a:rPr>
              <a:t>FinBERT</a:t>
            </a:r>
            <a:r>
              <a:rPr lang="en-US" sz="3200" dirty="0">
                <a:latin typeface="+mn-lt"/>
              </a:rPr>
              <a:t> achieving the highest accuracy. The findings highlight the potential of combining deep learning with contextual sentiment analysis for reliable predictions.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4586299"/>
            <a:ext cx="9144000" cy="685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en-US" sz="4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Abstract</a:t>
            </a:r>
          </a:p>
        </p:txBody>
      </p:sp>
      <p:sp>
        <p:nvSpPr>
          <p:cNvPr id="15" name="Text Box 194"/>
          <p:cNvSpPr txBox="1">
            <a:spLocks noChangeArrowheads="1"/>
          </p:cNvSpPr>
          <p:nvPr/>
        </p:nvSpPr>
        <p:spPr bwMode="auto">
          <a:xfrm>
            <a:off x="11347937" y="13258120"/>
            <a:ext cx="21305287" cy="869474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37137" tIns="137137" rIns="137137" bIns="137137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sz="3200" dirty="0">
              <a:latin typeface="Calibri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280160" y="10902078"/>
            <a:ext cx="9144000" cy="685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en-US" sz="4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Introduction</a:t>
            </a:r>
          </a:p>
        </p:txBody>
      </p:sp>
      <p:sp>
        <p:nvSpPr>
          <p:cNvPr id="13" name="Text Box 192"/>
          <p:cNvSpPr txBox="1">
            <a:spLocks noChangeArrowheads="1"/>
          </p:cNvSpPr>
          <p:nvPr/>
        </p:nvSpPr>
        <p:spPr bwMode="auto">
          <a:xfrm>
            <a:off x="11332313" y="5270812"/>
            <a:ext cx="21305287" cy="66065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37137" tIns="137137" rIns="137137" bIns="137137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200" dirty="0">
                <a:latin typeface="+mj-lt"/>
              </a:rPr>
              <a:t>The methodology integrates sentiment analysis with predictive models for stock price forecasting:</a:t>
            </a:r>
          </a:p>
          <a:p>
            <a:pPr eaLnBrk="1" hangingPunct="1"/>
            <a:endParaRPr lang="en-US" sz="3200" dirty="0">
              <a:latin typeface="+mj-lt"/>
            </a:endParaRPr>
          </a:p>
          <a:p>
            <a:r>
              <a:rPr lang="en-IN" sz="3200" b="1" dirty="0">
                <a:latin typeface="+mn-lt"/>
              </a:rPr>
              <a:t>1. Sentiment Analysis</a:t>
            </a:r>
            <a:r>
              <a:rPr lang="en-IN" sz="3200" dirty="0">
                <a:latin typeface="+mn-lt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>
                <a:latin typeface="+mn-lt"/>
              </a:rPr>
              <a:t> VADER</a:t>
            </a:r>
            <a:r>
              <a:rPr lang="en-IN" sz="3200" dirty="0">
                <a:latin typeface="+mn-lt"/>
              </a:rPr>
              <a:t>: Provides quick sentiment scores for social media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>
                <a:latin typeface="+mn-lt"/>
              </a:rPr>
              <a:t> </a:t>
            </a:r>
            <a:r>
              <a:rPr lang="en-IN" sz="3200" b="1" dirty="0" err="1">
                <a:latin typeface="+mn-lt"/>
              </a:rPr>
              <a:t>FinBERT</a:t>
            </a:r>
            <a:r>
              <a:rPr lang="en-IN" sz="3200" dirty="0">
                <a:latin typeface="+mn-lt"/>
              </a:rPr>
              <a:t>: Delivers nuanced sentiment analysis for financial contexts.</a:t>
            </a:r>
          </a:p>
          <a:p>
            <a:endParaRPr lang="en-US" sz="3200" dirty="0">
              <a:latin typeface="+mn-lt"/>
            </a:endParaRPr>
          </a:p>
          <a:p>
            <a:r>
              <a:rPr lang="en-US" sz="3200" b="1" dirty="0">
                <a:latin typeface="+mn-lt"/>
              </a:rPr>
              <a:t>2. </a:t>
            </a:r>
            <a:r>
              <a:rPr lang="en-IN" sz="3200" b="1" dirty="0">
                <a:latin typeface="+mn-lt"/>
              </a:rPr>
              <a:t>Model Development</a:t>
            </a:r>
            <a:r>
              <a:rPr lang="en-IN" sz="3200" dirty="0">
                <a:latin typeface="+mn-lt"/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3200" b="1" dirty="0">
                <a:latin typeface="+mn-lt"/>
              </a:rPr>
              <a:t> LSTM</a:t>
            </a:r>
            <a:r>
              <a:rPr lang="en-IN" sz="3200" dirty="0">
                <a:latin typeface="+mn-lt"/>
              </a:rPr>
              <a:t>: Used as a baseline to capture temporal patterns.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3200" b="1" dirty="0">
                <a:latin typeface="+mn-lt"/>
              </a:rPr>
              <a:t> GAN</a:t>
            </a:r>
            <a:r>
              <a:rPr lang="en-IN" sz="3200" dirty="0">
                <a:latin typeface="+mn-lt"/>
              </a:rPr>
              <a:t>: Generates synthetic price data to model nonlinear relationships.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3200" b="1" dirty="0">
                <a:latin typeface="+mn-lt"/>
              </a:rPr>
              <a:t> WGAN-GP</a:t>
            </a:r>
            <a:r>
              <a:rPr lang="en-IN" sz="3200" dirty="0">
                <a:latin typeface="+mn-lt"/>
              </a:rPr>
              <a:t>: Improves training stability and enhances robustness.</a:t>
            </a:r>
          </a:p>
          <a:p>
            <a:pPr marL="742950" lvl="1" indent="-285750">
              <a:buFont typeface="+mj-lt"/>
              <a:buAutoNum type="arabicPeriod"/>
            </a:pPr>
            <a:endParaRPr lang="en-IN" sz="3200" dirty="0">
              <a:latin typeface="+mn-lt"/>
            </a:endParaRPr>
          </a:p>
          <a:p>
            <a:r>
              <a:rPr lang="en-IN" sz="3200" dirty="0">
                <a:latin typeface="+mn-lt"/>
              </a:rPr>
              <a:t>Evaluation was conducted using metrics such as </a:t>
            </a:r>
            <a:r>
              <a:rPr lang="en-IN" sz="3200" b="1" dirty="0">
                <a:latin typeface="+mn-lt"/>
              </a:rPr>
              <a:t>MSE, MAPE</a:t>
            </a:r>
            <a:r>
              <a:rPr lang="en-IN" sz="3200" dirty="0">
                <a:latin typeface="+mn-lt"/>
              </a:rPr>
              <a:t>, and </a:t>
            </a:r>
            <a:r>
              <a:rPr lang="en-IN" sz="3200" b="1" dirty="0">
                <a:latin typeface="+mn-lt"/>
              </a:rPr>
              <a:t>RMSE</a:t>
            </a:r>
            <a:r>
              <a:rPr lang="en-IN" sz="3200" dirty="0">
                <a:latin typeface="+mn-lt"/>
              </a:rPr>
              <a:t> to </a:t>
            </a:r>
          </a:p>
          <a:p>
            <a:r>
              <a:rPr lang="en-IN" sz="3200" dirty="0">
                <a:latin typeface="+mn-lt"/>
              </a:rPr>
              <a:t>compare model performance.</a:t>
            </a:r>
          </a:p>
          <a:p>
            <a:pPr eaLnBrk="1" hangingPunct="1"/>
            <a:endParaRPr lang="en-US" sz="3200" dirty="0">
              <a:latin typeface="+mj-lt"/>
            </a:endParaRPr>
          </a:p>
          <a:p>
            <a:pPr eaLnBrk="1" hangingPunct="1"/>
            <a:endParaRPr lang="en-US" sz="3200" dirty="0">
              <a:latin typeface="+mj-lt"/>
            </a:endParaRPr>
          </a:p>
          <a:p>
            <a:pPr eaLnBrk="1" hangingPunct="1"/>
            <a:endParaRPr lang="en-US" sz="3200" dirty="0">
              <a:latin typeface="+mj-l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330696" y="4594224"/>
            <a:ext cx="21305287" cy="685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en-US" sz="4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Methodology</a:t>
            </a:r>
          </a:p>
        </p:txBody>
      </p:sp>
      <p:sp>
        <p:nvSpPr>
          <p:cNvPr id="12" name="Text Box 191"/>
          <p:cNvSpPr txBox="1">
            <a:spLocks noChangeArrowheads="1"/>
          </p:cNvSpPr>
          <p:nvPr/>
        </p:nvSpPr>
        <p:spPr bwMode="auto">
          <a:xfrm>
            <a:off x="33467040" y="5218654"/>
            <a:ext cx="9144000" cy="717114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3200" b="1" dirty="0">
                <a:latin typeface="+mj-lt"/>
              </a:rPr>
              <a:t>Sentiment Analysis</a:t>
            </a:r>
            <a:r>
              <a:rPr lang="en-US" sz="3200" dirty="0">
                <a:latin typeface="+mj-lt"/>
              </a:rPr>
              <a:t>: </a:t>
            </a:r>
            <a:r>
              <a:rPr lang="en-US" sz="3200" b="1" dirty="0" err="1">
                <a:latin typeface="+mj-lt"/>
              </a:rPr>
              <a:t>FinBERT</a:t>
            </a:r>
            <a:r>
              <a:rPr lang="en-US" sz="3200" dirty="0">
                <a:latin typeface="+mj-lt"/>
              </a:rPr>
              <a:t> consistently outperformed </a:t>
            </a:r>
            <a:r>
              <a:rPr lang="en-US" sz="3200" b="1" dirty="0">
                <a:latin typeface="+mj-lt"/>
              </a:rPr>
              <a:t>VADER</a:t>
            </a:r>
            <a:r>
              <a:rPr lang="en-US" sz="3200" dirty="0">
                <a:latin typeface="+mj-lt"/>
              </a:rPr>
              <a:t>, reducing prediction errors due to its nuanced understanding of financial text.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3200" dirty="0">
              <a:latin typeface="+mj-lt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IN" sz="3200" b="1" dirty="0">
                <a:latin typeface="+mj-lt"/>
              </a:rPr>
              <a:t>Model Insights</a:t>
            </a:r>
            <a:r>
              <a:rPr lang="en-IN" sz="3200" dirty="0">
                <a:latin typeface="+mj-lt"/>
              </a:rPr>
              <a:t>: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sz="3200" b="1" dirty="0">
                <a:latin typeface="+mj-lt"/>
              </a:rPr>
              <a:t>LSTM</a:t>
            </a:r>
            <a:r>
              <a:rPr lang="en-US" sz="3200" dirty="0">
                <a:latin typeface="+mj-lt"/>
              </a:rPr>
              <a:t> captured temporal dependencies effectively.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sz="3200" b="1" dirty="0">
                <a:latin typeface="+mj-lt"/>
              </a:rPr>
              <a:t>GAN</a:t>
            </a:r>
            <a:r>
              <a:rPr lang="en-US" sz="3200" dirty="0">
                <a:latin typeface="+mj-lt"/>
              </a:rPr>
              <a:t> modeled complex, nonlinear relationships but showed instability in training.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sz="3200" b="1" dirty="0">
                <a:latin typeface="+mj-lt"/>
              </a:rPr>
              <a:t>WGAN-GP</a:t>
            </a:r>
            <a:r>
              <a:rPr lang="en-US" sz="3200" dirty="0">
                <a:latin typeface="+mj-lt"/>
              </a:rPr>
              <a:t> improved stability and robustness, offering balanced performance.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3200" dirty="0">
              <a:latin typeface="+mj-lt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3200" b="1" dirty="0">
                <a:latin typeface="+mj-lt"/>
              </a:rPr>
              <a:t>Key Finding</a:t>
            </a:r>
            <a:r>
              <a:rPr lang="en-US" sz="3200" dirty="0">
                <a:latin typeface="+mj-lt"/>
              </a:rPr>
              <a:t>: Combining sentiment analysis with advanced models enhances accuracy in stock price forecasting.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467040" y="4594224"/>
            <a:ext cx="9144000" cy="685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en-US" sz="4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Discussion</a:t>
            </a:r>
          </a:p>
        </p:txBody>
      </p:sp>
      <p:sp>
        <p:nvSpPr>
          <p:cNvPr id="14" name="Text Box 193"/>
          <p:cNvSpPr txBox="1">
            <a:spLocks noChangeArrowheads="1"/>
          </p:cNvSpPr>
          <p:nvPr/>
        </p:nvSpPr>
        <p:spPr bwMode="auto">
          <a:xfrm>
            <a:off x="33467040" y="13920271"/>
            <a:ext cx="9144000" cy="717114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 err="1">
                <a:latin typeface="+mn-lt"/>
              </a:rPr>
              <a:t>FinBERT</a:t>
            </a:r>
            <a:r>
              <a:rPr lang="en-US" sz="3200" dirty="0">
                <a:latin typeface="+mn-lt"/>
              </a:rPr>
              <a:t> outperformed </a:t>
            </a:r>
            <a:r>
              <a:rPr lang="en-US" sz="3200" b="1" dirty="0">
                <a:latin typeface="+mn-lt"/>
              </a:rPr>
              <a:t>VADER</a:t>
            </a:r>
            <a:r>
              <a:rPr lang="en-US" sz="3200" dirty="0">
                <a:latin typeface="+mn-lt"/>
              </a:rPr>
              <a:t> across all models, proving its effectiveness for financial sentiment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+mn-lt"/>
              </a:rPr>
              <a:t>LSTM with </a:t>
            </a:r>
            <a:r>
              <a:rPr lang="en-US" sz="3200" b="1" dirty="0" err="1">
                <a:latin typeface="+mn-lt"/>
              </a:rPr>
              <a:t>FinBERT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dirty="0">
                <a:latin typeface="+mn-lt"/>
              </a:rPr>
              <a:t>achieved the best predictive accuracy, minimizing error metrics significantly.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+mn-lt"/>
              </a:rPr>
              <a:t>WGAN-GP</a:t>
            </a:r>
            <a:r>
              <a:rPr lang="en-US" sz="3200" dirty="0">
                <a:latin typeface="+mn-lt"/>
              </a:rPr>
              <a:t> provided stability and robustness in training, offering improved modeling of complex stock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Integrating </a:t>
            </a:r>
            <a:r>
              <a:rPr lang="en-US" sz="3200" b="1" dirty="0">
                <a:latin typeface="+mn-lt"/>
              </a:rPr>
              <a:t>sentiment analysis </a:t>
            </a:r>
            <a:r>
              <a:rPr lang="en-US" sz="3200" dirty="0">
                <a:latin typeface="+mn-lt"/>
              </a:rPr>
              <a:t>with advanced deep learning models enhances the accuracy and reliability of stock price predictions.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467040" y="13209956"/>
            <a:ext cx="9144000" cy="685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en-US" sz="4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Conclusions</a:t>
            </a:r>
          </a:p>
        </p:txBody>
      </p:sp>
      <p:graphicFrame>
        <p:nvGraphicFramePr>
          <p:cNvPr id="44" name="Content Placeholder 114" descr="Sample table with 4 columns, 7 rows." title="Sample Table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9614820"/>
              </p:ext>
            </p:extLst>
          </p:nvPr>
        </p:nvGraphicFramePr>
        <p:xfrm>
          <a:off x="12464317" y="22620243"/>
          <a:ext cx="19141440" cy="573948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21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1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6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2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296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Model</a:t>
                      </a:r>
                    </a:p>
                  </a:txBody>
                  <a:tcPr marL="121920" marR="121920" marT="34290" marB="3429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MAPE</a:t>
                      </a:r>
                    </a:p>
                  </a:txBody>
                  <a:tcPr marL="121920" marR="121920" marT="34290" marB="3429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MSE</a:t>
                      </a:r>
                    </a:p>
                  </a:txBody>
                  <a:tcPr marL="121920" marR="121920" marT="34290" marB="3429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RMSE</a:t>
                      </a:r>
                    </a:p>
                  </a:txBody>
                  <a:tcPr marL="121920" marR="121920" marT="34290" marB="3429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96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LSTM with VADER</a:t>
                      </a:r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0.0398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37.6372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6.1349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1681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LSTM with </a:t>
                      </a:r>
                      <a:r>
                        <a:rPr lang="en-US" sz="2800" b="0" dirty="0" err="1"/>
                        <a:t>FinBERT</a:t>
                      </a:r>
                      <a:endParaRPr lang="en-US" sz="2800" b="0" dirty="0"/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0.0207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13.2465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3.6396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96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GAN with VADER</a:t>
                      </a:r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0.0787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106.4511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10.3175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96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GAN with </a:t>
                      </a:r>
                      <a:r>
                        <a:rPr lang="en-US" sz="2800" dirty="0" err="1"/>
                        <a:t>FinBERT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0.0344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35.2645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5.9384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96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WGAN_GP with VADER</a:t>
                      </a:r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0.0248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14.7830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3.8449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96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WGAN_GP  with </a:t>
                      </a:r>
                      <a:r>
                        <a:rPr lang="en-US" sz="2800" dirty="0" err="1"/>
                        <a:t>FinBERT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0.0298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22.2314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4.7150</a:t>
                      </a:r>
                      <a:endParaRPr lang="en-US" sz="2800" dirty="0"/>
                    </a:p>
                  </a:txBody>
                  <a:tcPr marL="121920" marR="12192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Box 190"/>
          <p:cNvSpPr txBox="1">
            <a:spLocks noChangeArrowheads="1"/>
          </p:cNvSpPr>
          <p:nvPr/>
        </p:nvSpPr>
        <p:spPr bwMode="auto">
          <a:xfrm>
            <a:off x="1303331" y="11587878"/>
            <a:ext cx="9144000" cy="1061824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>
                <a:latin typeface="+mn-lt"/>
              </a:rPr>
              <a:t>Significance of Stock Prediction:</a:t>
            </a:r>
          </a:p>
          <a:p>
            <a:r>
              <a:rPr lang="en-IN" sz="3200" dirty="0">
                <a:latin typeface="+mn-lt"/>
              </a:rPr>
              <a:t>Crucial for financial decision-making and anticipating trends in volatile markets.</a:t>
            </a:r>
          </a:p>
          <a:p>
            <a:endParaRPr lang="en-IN" sz="32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>
                <a:latin typeface="+mn-lt"/>
              </a:rPr>
              <a:t>Challenges in Prediction:</a:t>
            </a:r>
          </a:p>
          <a:p>
            <a:r>
              <a:rPr lang="en-IN" sz="3200" dirty="0">
                <a:latin typeface="+mn-lt"/>
              </a:rPr>
              <a:t>Traditional models like LSTM capture temporal patterns but often overlook market sentiment, a key driver of price movements.</a:t>
            </a:r>
          </a:p>
          <a:p>
            <a:endParaRPr lang="en-IN" sz="32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>
                <a:latin typeface="+mn-lt"/>
              </a:rPr>
              <a:t>Market Sentiment’s Role:</a:t>
            </a:r>
          </a:p>
          <a:p>
            <a:r>
              <a:rPr lang="en-IN" sz="3200" dirty="0">
                <a:latin typeface="+mn-lt"/>
              </a:rPr>
              <a:t>Reflects collective investor opinions, derived from news and social media.</a:t>
            </a:r>
          </a:p>
          <a:p>
            <a:endParaRPr lang="en-IN" sz="32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>
                <a:latin typeface="+mn-lt"/>
              </a:rPr>
              <a:t>Sentiment Analysis Tools:</a:t>
            </a:r>
          </a:p>
          <a:p>
            <a:r>
              <a:rPr lang="en-IN" sz="3200" b="1" dirty="0">
                <a:latin typeface="+mn-lt"/>
              </a:rPr>
              <a:t>VADER: </a:t>
            </a:r>
            <a:r>
              <a:rPr lang="en-IN" sz="3200" dirty="0">
                <a:latin typeface="+mn-lt"/>
              </a:rPr>
              <a:t>Quick and interpretable for informal text.</a:t>
            </a:r>
          </a:p>
          <a:p>
            <a:r>
              <a:rPr lang="en-IN" sz="3200" b="1" dirty="0" err="1">
                <a:latin typeface="+mn-lt"/>
              </a:rPr>
              <a:t>FinBERT</a:t>
            </a:r>
            <a:r>
              <a:rPr lang="en-IN" sz="3200" b="1" dirty="0">
                <a:latin typeface="+mn-lt"/>
              </a:rPr>
              <a:t>: </a:t>
            </a:r>
            <a:r>
              <a:rPr lang="en-IN" sz="3200" dirty="0">
                <a:latin typeface="+mn-lt"/>
              </a:rPr>
              <a:t>Provides domain-specific, nuanced sentiment analysis for financial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>
                <a:latin typeface="+mn-lt"/>
              </a:rPr>
              <a:t>Objective:</a:t>
            </a:r>
          </a:p>
          <a:p>
            <a:r>
              <a:rPr lang="en-IN" sz="3200" dirty="0">
                <a:latin typeface="+mn-lt"/>
              </a:rPr>
              <a:t>Enhance stock price prediction by integrating sentiment analysis with </a:t>
            </a:r>
            <a:r>
              <a:rPr lang="en-IN" sz="3200" b="1" dirty="0">
                <a:latin typeface="+mn-lt"/>
              </a:rPr>
              <a:t>LSTM, GAN</a:t>
            </a:r>
            <a:r>
              <a:rPr lang="en-IN" sz="3200" dirty="0">
                <a:latin typeface="+mn-lt"/>
              </a:rPr>
              <a:t>, and W</a:t>
            </a:r>
            <a:r>
              <a:rPr lang="en-IN" sz="3200" b="1" dirty="0">
                <a:latin typeface="+mn-lt"/>
              </a:rPr>
              <a:t>GAN-GP</a:t>
            </a:r>
            <a:r>
              <a:rPr lang="en-IN" sz="3200" dirty="0">
                <a:latin typeface="+mn-lt"/>
              </a:rPr>
              <a:t> models.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347937" y="12572320"/>
            <a:ext cx="21305287" cy="685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en-US" sz="4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Results</a:t>
            </a:r>
          </a:p>
        </p:txBody>
      </p:sp>
      <p:sp>
        <p:nvSpPr>
          <p:cNvPr id="53" name="Text Box 180"/>
          <p:cNvSpPr txBox="1">
            <a:spLocks noChangeArrowheads="1"/>
          </p:cNvSpPr>
          <p:nvPr/>
        </p:nvSpPr>
        <p:spPr bwMode="auto">
          <a:xfrm>
            <a:off x="12464317" y="22120449"/>
            <a:ext cx="2109657" cy="43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400" b="1" dirty="0">
                <a:latin typeface="Calibri" pitchFamily="34" charset="0"/>
              </a:rPr>
              <a:t>Table 2. Results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3790365" y="30038039"/>
            <a:ext cx="9144000" cy="2223674"/>
          </a:xfrm>
          <a:prstGeom prst="rect">
            <a:avLst/>
          </a:prstGeom>
          <a:noFill/>
        </p:spPr>
        <p:txBody>
          <a:bodyPr wrap="square" lIns="91440" tIns="91440" rIns="91440" bIns="91440" rtlCol="0">
            <a:normAutofit/>
          </a:bodyPr>
          <a:lstStyle/>
          <a:p>
            <a:pPr algn="ctr"/>
            <a:r>
              <a:rPr lang="en-US" sz="2800" b="1" dirty="0"/>
              <a:t>Prof. Sandip Tiwari, </a:t>
            </a:r>
          </a:p>
          <a:p>
            <a:pPr algn="ctr"/>
            <a:r>
              <a:rPr lang="en-US" sz="2800" b="1" dirty="0"/>
              <a:t>Course Instructor, EE798Z</a:t>
            </a:r>
            <a:br>
              <a:rPr lang="en-US" sz="2800" b="1" dirty="0"/>
            </a:br>
            <a:r>
              <a:rPr lang="en-US" sz="2800" b="1" dirty="0"/>
              <a:t>Indian Institute of Technology, Kanpur</a:t>
            </a:r>
          </a:p>
        </p:txBody>
      </p:sp>
      <p:sp>
        <p:nvSpPr>
          <p:cNvPr id="40" name="Text Box 193"/>
          <p:cNvSpPr txBox="1">
            <a:spLocks noChangeArrowheads="1"/>
          </p:cNvSpPr>
          <p:nvPr/>
        </p:nvSpPr>
        <p:spPr bwMode="auto">
          <a:xfrm>
            <a:off x="33467040" y="22534503"/>
            <a:ext cx="9144000" cy="520137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Expand the dataset to include diverse companies and market sectors for broader validation.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Explore the integration of additional sentiment sources, such as financial news articles or investor forums.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Improve model robustness by experimenting with hybrid architectures and advanced GAN variants.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Investigate the impact of real-time sentiment analysis on intraday stock price prediction accuracy.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485565" y="21848703"/>
            <a:ext cx="9144000" cy="685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en-US" sz="4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Future Directions</a:t>
            </a:r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639B85C-FBE7-DA1E-3759-7D8247BD8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980" y="0"/>
            <a:ext cx="5312779" cy="412802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pic>
        <p:nvPicPr>
          <p:cNvPr id="7" name="Picture 6" descr="A graph showing the price of a stock market&#10;&#10;Description automatically generated">
            <a:extLst>
              <a:ext uri="{FF2B5EF4-FFF2-40B4-BE49-F238E27FC236}">
                <a16:creationId xmlns:a16="http://schemas.microsoft.com/office/drawing/2014/main" id="{4C8663E0-C1AB-848B-B3E0-0134CE701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22998246"/>
            <a:ext cx="8984292" cy="57374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CAFD2CC-E038-ED65-ABCD-2723AECFC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72269" y="6195059"/>
            <a:ext cx="9070994" cy="5958679"/>
          </a:xfrm>
          <a:prstGeom prst="rect">
            <a:avLst/>
          </a:prstGeom>
        </p:spPr>
      </p:pic>
      <p:sp>
        <p:nvSpPr>
          <p:cNvPr id="23" name="Text Box 180">
            <a:extLst>
              <a:ext uri="{FF2B5EF4-FFF2-40B4-BE49-F238E27FC236}">
                <a16:creationId xmlns:a16="http://schemas.microsoft.com/office/drawing/2014/main" id="{9DCF6084-78B7-095A-8E25-C031E9F5A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4477" y="22559677"/>
            <a:ext cx="4558211" cy="43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400" b="1" dirty="0">
                <a:latin typeface="Calibri" pitchFamily="34" charset="0"/>
              </a:rPr>
              <a:t>Plot 1: Amazon (AMZN) Stock Data</a:t>
            </a:r>
            <a:endParaRPr lang="en-US" sz="2400" dirty="0">
              <a:latin typeface="Calibri" pitchFamily="34" charset="0"/>
            </a:endParaRPr>
          </a:p>
        </p:txBody>
      </p:sp>
      <p:pic>
        <p:nvPicPr>
          <p:cNvPr id="30" name="Picture 29" descr="A graph showing a line graph&#10;&#10;Description automatically generated">
            <a:extLst>
              <a:ext uri="{FF2B5EF4-FFF2-40B4-BE49-F238E27FC236}">
                <a16:creationId xmlns:a16="http://schemas.microsoft.com/office/drawing/2014/main" id="{0F2A4D29-3D28-C8BF-A3FF-F15F9CD966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6617" y="13569379"/>
            <a:ext cx="6821464" cy="3636385"/>
          </a:xfrm>
          <a:prstGeom prst="rect">
            <a:avLst/>
          </a:prstGeom>
        </p:spPr>
      </p:pic>
      <p:pic>
        <p:nvPicPr>
          <p:cNvPr id="42" name="Picture 41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19341BCD-A331-B878-4073-B00FA707F2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69354" y="13531911"/>
            <a:ext cx="6821464" cy="3677884"/>
          </a:xfrm>
          <a:prstGeom prst="rect">
            <a:avLst/>
          </a:prstGeom>
        </p:spPr>
      </p:pic>
      <p:pic>
        <p:nvPicPr>
          <p:cNvPr id="46" name="Picture 45" descr="A graph showing a line graph&#10;&#10;Description automatically generated with medium confidence">
            <a:extLst>
              <a:ext uri="{FF2B5EF4-FFF2-40B4-BE49-F238E27FC236}">
                <a16:creationId xmlns:a16="http://schemas.microsoft.com/office/drawing/2014/main" id="{5C47157F-FA80-30E5-2DE9-BB5AAB73E6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85995" y="13537293"/>
            <a:ext cx="6931132" cy="3772467"/>
          </a:xfrm>
          <a:prstGeom prst="rect">
            <a:avLst/>
          </a:prstGeom>
        </p:spPr>
      </p:pic>
      <p:pic>
        <p:nvPicPr>
          <p:cNvPr id="48" name="Picture 47" descr="A graph showing a line graph&#10;&#10;Description automatically generated with medium confidence">
            <a:extLst>
              <a:ext uri="{FF2B5EF4-FFF2-40B4-BE49-F238E27FC236}">
                <a16:creationId xmlns:a16="http://schemas.microsoft.com/office/drawing/2014/main" id="{449A3FFA-98D1-36E0-7F35-1245F18DE1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67160" y="18025018"/>
            <a:ext cx="6931132" cy="3694847"/>
          </a:xfrm>
          <a:prstGeom prst="rect">
            <a:avLst/>
          </a:prstGeom>
        </p:spPr>
      </p:pic>
      <p:pic>
        <p:nvPicPr>
          <p:cNvPr id="55" name="Picture 54" descr="A graph showing the price of a stock market&#10;&#10;Description automatically generated">
            <a:extLst>
              <a:ext uri="{FF2B5EF4-FFF2-40B4-BE49-F238E27FC236}">
                <a16:creationId xmlns:a16="http://schemas.microsoft.com/office/drawing/2014/main" id="{75F17336-759E-CCB4-BE04-8E64896FE6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669354" y="18025017"/>
            <a:ext cx="6852925" cy="3694847"/>
          </a:xfrm>
          <a:prstGeom prst="rect">
            <a:avLst/>
          </a:prstGeom>
        </p:spPr>
      </p:pic>
      <p:pic>
        <p:nvPicPr>
          <p:cNvPr id="59" name="Picture 58" descr="A graph showing a line graph&#10;&#10;Description automatically generated with medium confidence">
            <a:extLst>
              <a:ext uri="{FF2B5EF4-FFF2-40B4-BE49-F238E27FC236}">
                <a16:creationId xmlns:a16="http://schemas.microsoft.com/office/drawing/2014/main" id="{8B6A488C-DBE9-7CC6-A5FC-09F7E9CCFB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90818" y="18038465"/>
            <a:ext cx="6931132" cy="3772467"/>
          </a:xfrm>
          <a:prstGeom prst="rect">
            <a:avLst/>
          </a:prstGeom>
        </p:spPr>
      </p:pic>
      <p:sp>
        <p:nvSpPr>
          <p:cNvPr id="61" name="Text Box 180">
            <a:extLst>
              <a:ext uri="{FF2B5EF4-FFF2-40B4-BE49-F238E27FC236}">
                <a16:creationId xmlns:a16="http://schemas.microsoft.com/office/drawing/2014/main" id="{0F3F107C-7C2A-546E-F2C0-87E05759E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9572" y="18915025"/>
            <a:ext cx="1057702" cy="377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 b="1" dirty="0" err="1">
                <a:latin typeface="Calibri" pitchFamily="34" charset="0"/>
              </a:rPr>
              <a:t>FinBERT</a:t>
            </a:r>
            <a:r>
              <a:rPr lang="en-US" sz="2000" dirty="0">
                <a:latin typeface="Calibri" pitchFamily="34" charset="0"/>
              </a:rPr>
              <a:t>.</a:t>
            </a:r>
          </a:p>
        </p:txBody>
      </p:sp>
      <p:sp>
        <p:nvSpPr>
          <p:cNvPr id="62" name="Text Box 180">
            <a:extLst>
              <a:ext uri="{FF2B5EF4-FFF2-40B4-BE49-F238E27FC236}">
                <a16:creationId xmlns:a16="http://schemas.microsoft.com/office/drawing/2014/main" id="{871573E4-56B9-83DD-0183-56BF976E5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57901" y="10383116"/>
            <a:ext cx="3736640" cy="43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400" b="1" dirty="0">
                <a:latin typeface="Calibri" pitchFamily="34" charset="0"/>
              </a:rPr>
              <a:t>Table 1.</a:t>
            </a:r>
            <a:r>
              <a:rPr lang="en-US" sz="2400" dirty="0">
                <a:latin typeface="Calibri" pitchFamily="34" charset="0"/>
              </a:rPr>
              <a:t> Label in 24pt Calibri.</a:t>
            </a:r>
          </a:p>
        </p:txBody>
      </p:sp>
      <p:sp>
        <p:nvSpPr>
          <p:cNvPr id="63" name="Text Box 180">
            <a:extLst>
              <a:ext uri="{FF2B5EF4-FFF2-40B4-BE49-F238E27FC236}">
                <a16:creationId xmlns:a16="http://schemas.microsoft.com/office/drawing/2014/main" id="{465CD8AC-DBE1-8245-624C-E98E01C13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4746" y="17491060"/>
            <a:ext cx="5150361" cy="43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400" b="1" dirty="0">
                <a:latin typeface="Calibri" pitchFamily="34" charset="0"/>
              </a:rPr>
              <a:t>Plot 4: WGAN_GP with VADER/</a:t>
            </a:r>
            <a:r>
              <a:rPr lang="en-US" sz="2400" b="1" dirty="0" err="1">
                <a:latin typeface="Calibri" pitchFamily="34" charset="0"/>
              </a:rPr>
              <a:t>FinBERT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64" name="Text Box 180">
            <a:extLst>
              <a:ext uri="{FF2B5EF4-FFF2-40B4-BE49-F238E27FC236}">
                <a16:creationId xmlns:a16="http://schemas.microsoft.com/office/drawing/2014/main" id="{06877E17-891A-EE07-2073-55AB82816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37737" y="17438393"/>
            <a:ext cx="4468251" cy="43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400" b="1" dirty="0">
                <a:latin typeface="Calibri" pitchFamily="34" charset="0"/>
              </a:rPr>
              <a:t>Plot 2: LSTM with VADER/</a:t>
            </a:r>
            <a:r>
              <a:rPr lang="en-US" sz="2400" b="1" dirty="0" err="1">
                <a:latin typeface="Calibri" pitchFamily="34" charset="0"/>
              </a:rPr>
              <a:t>FinBERT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65" name="Text Box 180">
            <a:extLst>
              <a:ext uri="{FF2B5EF4-FFF2-40B4-BE49-F238E27FC236}">
                <a16:creationId xmlns:a16="http://schemas.microsoft.com/office/drawing/2014/main" id="{D775138C-86AD-7317-8506-6BE428882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30989" y="18909562"/>
            <a:ext cx="1057702" cy="377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 b="1" dirty="0" err="1">
                <a:latin typeface="Calibri" pitchFamily="34" charset="0"/>
              </a:rPr>
              <a:t>FinBERT</a:t>
            </a:r>
            <a:r>
              <a:rPr lang="en-US" sz="2000" dirty="0">
                <a:latin typeface="Calibri" pitchFamily="34" charset="0"/>
              </a:rPr>
              <a:t>.</a:t>
            </a:r>
          </a:p>
        </p:txBody>
      </p:sp>
      <p:sp>
        <p:nvSpPr>
          <p:cNvPr id="66" name="Text Box 180">
            <a:extLst>
              <a:ext uri="{FF2B5EF4-FFF2-40B4-BE49-F238E27FC236}">
                <a16:creationId xmlns:a16="http://schemas.microsoft.com/office/drawing/2014/main" id="{FDFAB27F-B824-5E84-9275-9E3D7509C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60749" y="18909562"/>
            <a:ext cx="1057702" cy="377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 b="1" dirty="0" err="1">
                <a:latin typeface="Calibri" pitchFamily="34" charset="0"/>
              </a:rPr>
              <a:t>FinBERT</a:t>
            </a:r>
            <a:r>
              <a:rPr lang="en-US" sz="2000" dirty="0">
                <a:latin typeface="Calibri" pitchFamily="34" charset="0"/>
              </a:rPr>
              <a:t>.</a:t>
            </a:r>
          </a:p>
        </p:txBody>
      </p:sp>
      <p:sp>
        <p:nvSpPr>
          <p:cNvPr id="67" name="Text Box 180">
            <a:extLst>
              <a:ext uri="{FF2B5EF4-FFF2-40B4-BE49-F238E27FC236}">
                <a16:creationId xmlns:a16="http://schemas.microsoft.com/office/drawing/2014/main" id="{BF91BC7D-9775-F841-D222-03AE50516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8271" y="14120336"/>
            <a:ext cx="863803" cy="377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 b="1" dirty="0">
                <a:latin typeface="Calibri" pitchFamily="34" charset="0"/>
              </a:rPr>
              <a:t>VADER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8" name="Text Box 180">
            <a:extLst>
              <a:ext uri="{FF2B5EF4-FFF2-40B4-BE49-F238E27FC236}">
                <a16:creationId xmlns:a16="http://schemas.microsoft.com/office/drawing/2014/main" id="{AAC63740-AC0B-BF77-ABEB-ABF084BCF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59840" y="14073342"/>
            <a:ext cx="863803" cy="377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 b="1" dirty="0">
                <a:latin typeface="Calibri" pitchFamily="34" charset="0"/>
              </a:rPr>
              <a:t>VADER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9" name="Text Box 180">
            <a:extLst>
              <a:ext uri="{FF2B5EF4-FFF2-40B4-BE49-F238E27FC236}">
                <a16:creationId xmlns:a16="http://schemas.microsoft.com/office/drawing/2014/main" id="{CF087093-6C53-2131-42AE-2D325EA48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81304" y="14120336"/>
            <a:ext cx="863803" cy="377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 b="1" dirty="0">
                <a:latin typeface="Calibri" pitchFamily="34" charset="0"/>
              </a:rPr>
              <a:t>VADER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70" name="Text Box 180">
            <a:extLst>
              <a:ext uri="{FF2B5EF4-FFF2-40B4-BE49-F238E27FC236}">
                <a16:creationId xmlns:a16="http://schemas.microsoft.com/office/drawing/2014/main" id="{80CA6AA7-B722-5663-D83E-581356275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6806" y="17505845"/>
            <a:ext cx="4256462" cy="43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400" b="1" dirty="0">
                <a:latin typeface="Calibri" pitchFamily="34" charset="0"/>
              </a:rPr>
              <a:t>Plot 3: Gan with VADER/</a:t>
            </a:r>
            <a:r>
              <a:rPr lang="en-US" sz="2400" b="1" dirty="0" err="1">
                <a:latin typeface="Calibri" pitchFamily="34" charset="0"/>
              </a:rPr>
              <a:t>FinBERT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0446D7-7649-D604-5320-680909C6F985}"/>
              </a:ext>
            </a:extLst>
          </p:cNvPr>
          <p:cNvSpPr txBox="1"/>
          <p:nvPr/>
        </p:nvSpPr>
        <p:spPr>
          <a:xfrm>
            <a:off x="32251125" y="29220014"/>
            <a:ext cx="12222480" cy="685800"/>
          </a:xfrm>
          <a:prstGeom prst="rect">
            <a:avLst/>
          </a:prstGeom>
          <a:noFill/>
          <a:ln>
            <a:noFill/>
          </a:ln>
        </p:spPr>
        <p:txBody>
          <a:bodyPr wrap="none" lIns="68568" tIns="34284" rIns="68568" bIns="34284" rtlCol="0" anchor="ctr" anchorCtr="0">
            <a:noAutofit/>
          </a:bodyPr>
          <a:lstStyle/>
          <a:p>
            <a:pPr algn="ctr"/>
            <a:r>
              <a:rPr lang="en-US" sz="4400" b="1" dirty="0"/>
              <a:t>With </a:t>
            </a:r>
            <a:r>
              <a:rPr lang="en-IN" sz="4400" b="1" dirty="0"/>
              <a:t>Guidance from: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771</Words>
  <Application>Microsoft Office PowerPoint</Application>
  <PresentationFormat>Custom</PresentationFormat>
  <Paragraphs>112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Omkar</dc:creator>
  <cp:lastModifiedBy>Omkar Chavan</cp:lastModifiedBy>
  <cp:revision>3</cp:revision>
  <dcterms:modified xsi:type="dcterms:W3CDTF">2024-11-26T10:03:39Z</dcterms:modified>
</cp:coreProperties>
</file>